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640080" y="502920"/>
            <a:ext cx="10911535" cy="320040"/>
          </a:xfrm>
          <a:prstGeom prst="rect">
            <a:avLst/>
          </a:prstGeom>
          <a:noFill/>
          <a:ln/>
        </p:spPr>
        <p:txBody>
          <a:bodyPr wrap="square" rtlCol="0" anchor="t"/>
          <a:lstStyle/>
          <a:p>
            <a:pPr indent="0" marL="0">
              <a:buNone/>
            </a:pPr>
            <a:r>
              <a:rPr lang="en-US" sz="1200" b="1" spc="300" kern="0" dirty="0">
                <a:solidFill>
                  <a:srgbClr val="C9A24B"/>
                </a:solidFill>
                <a:latin typeface="Calibri" pitchFamily="34" charset="0"/>
                <a:ea typeface="Calibri" pitchFamily="34" charset="-122"/>
                <a:cs typeface="Calibri" pitchFamily="34" charset="-120"/>
              </a:rPr>
              <a:t>WARNING SURFACING TEST</a:t>
            </a:r>
            <a:endParaRPr lang="en-US" sz="1200" dirty="0"/>
          </a:p>
        </p:txBody>
      </p:sp>
      <p:sp>
        <p:nvSpPr>
          <p:cNvPr id="3" name="Text 1"/>
          <p:cNvSpPr/>
          <p:nvPr/>
        </p:nvSpPr>
        <p:spPr>
          <a:xfrm>
            <a:off x="640080" y="868680"/>
            <a:ext cx="10911535" cy="731520"/>
          </a:xfrm>
          <a:prstGeom prst="rect">
            <a:avLst/>
          </a:prstGeom>
          <a:noFill/>
          <a:ln/>
        </p:spPr>
        <p:txBody>
          <a:bodyPr wrap="square" rtlCol="0" anchor="t"/>
          <a:lstStyle/>
          <a:p>
            <a:pPr indent="0" marL="0">
              <a:buNone/>
            </a:pPr>
            <a:r>
              <a:rPr lang="en-US" sz="2800" b="1" dirty="0">
                <a:solidFill>
                  <a:srgbClr val="ECE7DC"/>
                </a:solidFill>
                <a:latin typeface="Georgia" pitchFamily="34" charset="0"/>
                <a:ea typeface="Georgia" pitchFamily="34" charset="-122"/>
                <a:cs typeface="Georgia" pitchFamily="34" charset="-120"/>
              </a:rPr>
              <a:t>Ko'p va uzun bandlar bilan siqilishni majburlash</a:t>
            </a:r>
            <a:endParaRPr lang="en-US" sz="2800" dirty="0"/>
          </a:p>
        </p:txBody>
      </p:sp>
      <p:sp>
        <p:nvSpPr>
          <p:cNvPr id="4" name="Text 2"/>
          <p:cNvSpPr/>
          <p:nvPr/>
        </p:nvSpPr>
        <p:spPr>
          <a:xfrm>
            <a:off x="640080" y="1783080"/>
            <a:ext cx="10038612" cy="640080"/>
          </a:xfrm>
          <a:prstGeom prst="rect">
            <a:avLst/>
          </a:prstGeom>
          <a:noFill/>
          <a:ln/>
        </p:spPr>
        <p:txBody>
          <a:bodyPr wrap="square" rtlCol="0" anchor="t"/>
          <a:lstStyle/>
          <a:p>
            <a:pPr indent="0" marL="0">
              <a:lnSpc>
                <a:spcPct val="110000"/>
              </a:lnSpc>
              <a:buNone/>
            </a:pPr>
            <a:r>
              <a:rPr lang="en-US" sz="1300" dirty="0">
                <a:solidFill>
                  <a:srgbClr val="9AA0AC"/>
                </a:solidFill>
                <a:latin typeface="Calibri" pitchFamily="34" charset="0"/>
                <a:ea typeface="Calibri" pitchFamily="34" charset="-122"/>
                <a:cs typeface="Calibri" pitchFamily="34" charset="-120"/>
              </a:rPr>
              <a:t>Bandning lead-qismi juda uzun matn bilan yozilgan, chunki AI ba'zan sxema chegarasiga yaqin uzunlikda to'liq gaplar yozadi va bu qatorning haqiqiy balandligini sezilarli darajada oshiradi, natijada sahifada joy yetishmasligi yuzaga kelishi mumkin, shu sababli bu holatni sinash zarur bo'ladi va kuzatiladi.</a:t>
            </a:r>
            <a:endParaRPr lang="en-US" sz="1300" dirty="0"/>
          </a:p>
        </p:txBody>
      </p:sp>
      <p:sp>
        <p:nvSpPr>
          <p:cNvPr id="5" name="Shape 3"/>
          <p:cNvSpPr/>
          <p:nvPr/>
        </p:nvSpPr>
        <p:spPr>
          <a:xfrm>
            <a:off x="640080" y="2651760"/>
            <a:ext cx="128016" cy="128016"/>
          </a:xfrm>
          <a:prstGeom prst="ellipse">
            <a:avLst/>
          </a:prstGeom>
          <a:solidFill>
            <a:srgbClr val="C9A24B"/>
          </a:solidFill>
          <a:ln/>
        </p:spPr>
      </p:sp>
      <p:sp>
        <p:nvSpPr>
          <p:cNvPr id="6" name="Text 4"/>
          <p:cNvSpPr/>
          <p:nvPr/>
        </p:nvSpPr>
        <p:spPr>
          <a:xfrm>
            <a:off x="1005840" y="2560320"/>
            <a:ext cx="10545775" cy="650748"/>
          </a:xfrm>
          <a:prstGeom prst="rect">
            <a:avLst/>
          </a:prstGeom>
          <a:noFill/>
          <a:ln/>
        </p:spPr>
        <p:txBody>
          <a:bodyPr wrap="square" rtlCol="0" anchor="t"/>
          <a:lstStyle/>
          <a:p>
            <a:pPr indent="0" marL="0">
              <a:lnSpc>
                <a:spcPct val="115000"/>
              </a:lnSpc>
              <a:buNone/>
            </a:pPr>
            <a:r>
              <a:rPr lang="en-US" sz="1400" b="1" dirty="0">
                <a:solidFill>
                  <a:srgbClr val="ECE7DC"/>
                </a:solidFill>
                <a:latin typeface="Calibri" pitchFamily="34" charset="0"/>
                <a:ea typeface="Calibri" pitchFamily="34" charset="-122"/>
                <a:cs typeface="Calibri" pitchFamily="34" charset="-120"/>
              </a:rPr>
              <a:t>Band 1:  </a:t>
            </a:r>
            <a:pPr indent="0" marL="0">
              <a:lnSpc>
                <a:spcPct val="115000"/>
              </a:lnSpc>
              <a:buNone/>
            </a:pPr>
            <a:r>
              <a:rPr lang="en-US" sz="1400" dirty="0">
                <a:solidFill>
                  <a:srgbClr val="9AA0AC"/>
                </a:solidFill>
                <a:latin typeface="Calibri" pitchFamily="34" charset="0"/>
                <a:ea typeface="Calibri" pitchFamily="34" charset="-122"/>
                <a:cs typeface="Calibri" pitchFamily="34" charset="-120"/>
              </a:rPr>
              <a:t>Bandning 1-qismi juda uzun matn bilan yozilgan, chunki AI ba'zan sxema chegarasiga yaqin uzunlikda to'liq gaplar yozadi va bu qatorning haqiqiy balandligini sezilarli darajada oshiradi, natijada sahifada joy yetishmasligi yuzaga kelishi mumkin, shu sababli bu holatni sinash zarur bo'ladi va kuzatiladi.</a:t>
            </a:r>
            <a:endParaRPr lang="en-US" sz="1400" dirty="0"/>
          </a:p>
        </p:txBody>
      </p:sp>
      <p:sp>
        <p:nvSpPr>
          <p:cNvPr id="7" name="Shape 5"/>
          <p:cNvSpPr/>
          <p:nvPr/>
        </p:nvSpPr>
        <p:spPr>
          <a:xfrm>
            <a:off x="640080" y="3439668"/>
            <a:ext cx="128016" cy="128016"/>
          </a:xfrm>
          <a:prstGeom prst="ellipse">
            <a:avLst/>
          </a:prstGeom>
          <a:solidFill>
            <a:srgbClr val="C9A24B"/>
          </a:solidFill>
          <a:ln/>
        </p:spPr>
      </p:sp>
      <p:sp>
        <p:nvSpPr>
          <p:cNvPr id="8" name="Text 6"/>
          <p:cNvSpPr/>
          <p:nvPr/>
        </p:nvSpPr>
        <p:spPr>
          <a:xfrm>
            <a:off x="1005840" y="3348228"/>
            <a:ext cx="10545775" cy="650748"/>
          </a:xfrm>
          <a:prstGeom prst="rect">
            <a:avLst/>
          </a:prstGeom>
          <a:noFill/>
          <a:ln/>
        </p:spPr>
        <p:txBody>
          <a:bodyPr wrap="square" rtlCol="0" anchor="t"/>
          <a:lstStyle/>
          <a:p>
            <a:pPr indent="0" marL="0">
              <a:lnSpc>
                <a:spcPct val="115000"/>
              </a:lnSpc>
              <a:buNone/>
            </a:pPr>
            <a:r>
              <a:rPr lang="en-US" sz="1400" b="1" dirty="0">
                <a:solidFill>
                  <a:srgbClr val="ECE7DC"/>
                </a:solidFill>
                <a:latin typeface="Calibri" pitchFamily="34" charset="0"/>
                <a:ea typeface="Calibri" pitchFamily="34" charset="-122"/>
                <a:cs typeface="Calibri" pitchFamily="34" charset="-120"/>
              </a:rPr>
              <a:t>Band 2:  </a:t>
            </a:r>
            <a:pPr indent="0" marL="0">
              <a:lnSpc>
                <a:spcPct val="115000"/>
              </a:lnSpc>
              <a:buNone/>
            </a:pPr>
            <a:r>
              <a:rPr lang="en-US" sz="1400" dirty="0">
                <a:solidFill>
                  <a:srgbClr val="9AA0AC"/>
                </a:solidFill>
                <a:latin typeface="Calibri" pitchFamily="34" charset="0"/>
                <a:ea typeface="Calibri" pitchFamily="34" charset="-122"/>
                <a:cs typeface="Calibri" pitchFamily="34" charset="-120"/>
              </a:rPr>
              <a:t>Bandning 2-qismi juda uzun matn bilan yozilgan, chunki AI ba'zan sxema chegarasiga yaqin uzunlikda to'liq gaplar yozadi va bu qatorning haqiqiy balandligini sezilarli darajada oshiradi, natijada sahifada joy yetishmasligi yuzaga kelishi mumkin, shu sababli bu holatni sinash zarur bo'ladi va kuzatiladi.</a:t>
            </a:r>
            <a:endParaRPr lang="en-US" sz="1400" dirty="0"/>
          </a:p>
        </p:txBody>
      </p:sp>
      <p:sp>
        <p:nvSpPr>
          <p:cNvPr id="9" name="Shape 7"/>
          <p:cNvSpPr/>
          <p:nvPr/>
        </p:nvSpPr>
        <p:spPr>
          <a:xfrm>
            <a:off x="640080" y="4227576"/>
            <a:ext cx="128016" cy="128016"/>
          </a:xfrm>
          <a:prstGeom prst="ellipse">
            <a:avLst/>
          </a:prstGeom>
          <a:solidFill>
            <a:srgbClr val="C9A24B"/>
          </a:solidFill>
          <a:ln/>
        </p:spPr>
      </p:sp>
      <p:sp>
        <p:nvSpPr>
          <p:cNvPr id="10" name="Text 8"/>
          <p:cNvSpPr/>
          <p:nvPr/>
        </p:nvSpPr>
        <p:spPr>
          <a:xfrm>
            <a:off x="1005840" y="4136136"/>
            <a:ext cx="10545775" cy="650748"/>
          </a:xfrm>
          <a:prstGeom prst="rect">
            <a:avLst/>
          </a:prstGeom>
          <a:noFill/>
          <a:ln/>
        </p:spPr>
        <p:txBody>
          <a:bodyPr wrap="square" rtlCol="0" anchor="t"/>
          <a:lstStyle/>
          <a:p>
            <a:pPr indent="0" marL="0">
              <a:lnSpc>
                <a:spcPct val="115000"/>
              </a:lnSpc>
              <a:buNone/>
            </a:pPr>
            <a:r>
              <a:rPr lang="en-US" sz="1400" b="1" dirty="0">
                <a:solidFill>
                  <a:srgbClr val="ECE7DC"/>
                </a:solidFill>
                <a:latin typeface="Calibri" pitchFamily="34" charset="0"/>
                <a:ea typeface="Calibri" pitchFamily="34" charset="-122"/>
                <a:cs typeface="Calibri" pitchFamily="34" charset="-120"/>
              </a:rPr>
              <a:t>Band 3:  </a:t>
            </a:r>
            <a:pPr indent="0" marL="0">
              <a:lnSpc>
                <a:spcPct val="115000"/>
              </a:lnSpc>
              <a:buNone/>
            </a:pPr>
            <a:r>
              <a:rPr lang="en-US" sz="1400" dirty="0">
                <a:solidFill>
                  <a:srgbClr val="9AA0AC"/>
                </a:solidFill>
                <a:latin typeface="Calibri" pitchFamily="34" charset="0"/>
                <a:ea typeface="Calibri" pitchFamily="34" charset="-122"/>
                <a:cs typeface="Calibri" pitchFamily="34" charset="-120"/>
              </a:rPr>
              <a:t>Bandning 3-qismi juda uzun matn bilan yozilgan, chunki AI ba'zan sxema chegarasiga yaqin uzunlikda to'liq gaplar yozadi va bu qatorning haqiqiy balandligini sezilarli darajada oshiradi, natijada sahifada joy yetishmasligi yuzaga kelishi mumkin, shu sababli bu holatni sinash zarur bo'ladi va kuzatiladi.</a:t>
            </a:r>
            <a:endParaRPr lang="en-US" sz="1400" dirty="0"/>
          </a:p>
        </p:txBody>
      </p:sp>
      <p:sp>
        <p:nvSpPr>
          <p:cNvPr id="11" name="Shape 9"/>
          <p:cNvSpPr/>
          <p:nvPr/>
        </p:nvSpPr>
        <p:spPr>
          <a:xfrm>
            <a:off x="640080" y="5015484"/>
            <a:ext cx="128016" cy="128016"/>
          </a:xfrm>
          <a:prstGeom prst="ellipse">
            <a:avLst/>
          </a:prstGeom>
          <a:solidFill>
            <a:srgbClr val="C9A24B"/>
          </a:solidFill>
          <a:ln/>
        </p:spPr>
      </p:sp>
      <p:sp>
        <p:nvSpPr>
          <p:cNvPr id="12" name="Text 10"/>
          <p:cNvSpPr/>
          <p:nvPr/>
        </p:nvSpPr>
        <p:spPr>
          <a:xfrm>
            <a:off x="1005840" y="4924044"/>
            <a:ext cx="10545775" cy="650748"/>
          </a:xfrm>
          <a:prstGeom prst="rect">
            <a:avLst/>
          </a:prstGeom>
          <a:noFill/>
          <a:ln/>
        </p:spPr>
        <p:txBody>
          <a:bodyPr wrap="square" rtlCol="0" anchor="t"/>
          <a:lstStyle/>
          <a:p>
            <a:pPr indent="0" marL="0">
              <a:lnSpc>
                <a:spcPct val="115000"/>
              </a:lnSpc>
              <a:buNone/>
            </a:pPr>
            <a:r>
              <a:rPr lang="en-US" sz="1400" b="1" dirty="0">
                <a:solidFill>
                  <a:srgbClr val="ECE7DC"/>
                </a:solidFill>
                <a:latin typeface="Calibri" pitchFamily="34" charset="0"/>
                <a:ea typeface="Calibri" pitchFamily="34" charset="-122"/>
                <a:cs typeface="Calibri" pitchFamily="34" charset="-120"/>
              </a:rPr>
              <a:t>Band 4:  </a:t>
            </a:r>
            <a:pPr indent="0" marL="0">
              <a:lnSpc>
                <a:spcPct val="115000"/>
              </a:lnSpc>
              <a:buNone/>
            </a:pPr>
            <a:r>
              <a:rPr lang="en-US" sz="1400" dirty="0">
                <a:solidFill>
                  <a:srgbClr val="9AA0AC"/>
                </a:solidFill>
                <a:latin typeface="Calibri" pitchFamily="34" charset="0"/>
                <a:ea typeface="Calibri" pitchFamily="34" charset="-122"/>
                <a:cs typeface="Calibri" pitchFamily="34" charset="-120"/>
              </a:rPr>
              <a:t>Bandning 4-qismi juda uzun matn bilan yozilgan, chunki AI ba'zan sxema chegarasiga yaqin uzunlikda to'liq gaplar yozadi va bu qatorning haqiqiy balandligini sezilarli darajada oshiradi, natijada sahifada joy yetishmasligi yuzaga kelishi mumkin, shu sababli bu holatni sinash zarur bo'ladi va kuzatiladi.</a:t>
            </a:r>
            <a:endParaRPr lang="en-US" sz="1400" dirty="0"/>
          </a:p>
        </p:txBody>
      </p:sp>
      <p:sp>
        <p:nvSpPr>
          <p:cNvPr id="13" name="Shape 11"/>
          <p:cNvSpPr/>
          <p:nvPr/>
        </p:nvSpPr>
        <p:spPr>
          <a:xfrm>
            <a:off x="640080" y="5803392"/>
            <a:ext cx="128016" cy="128016"/>
          </a:xfrm>
          <a:prstGeom prst="ellipse">
            <a:avLst/>
          </a:prstGeom>
          <a:solidFill>
            <a:srgbClr val="C9A24B"/>
          </a:solidFill>
          <a:ln/>
        </p:spPr>
      </p:sp>
      <p:sp>
        <p:nvSpPr>
          <p:cNvPr id="14" name="Text 12"/>
          <p:cNvSpPr/>
          <p:nvPr/>
        </p:nvSpPr>
        <p:spPr>
          <a:xfrm>
            <a:off x="1005840" y="5711952"/>
            <a:ext cx="10545775" cy="650748"/>
          </a:xfrm>
          <a:prstGeom prst="rect">
            <a:avLst/>
          </a:prstGeom>
          <a:noFill/>
          <a:ln/>
        </p:spPr>
        <p:txBody>
          <a:bodyPr wrap="square" rtlCol="0" anchor="t"/>
          <a:lstStyle/>
          <a:p>
            <a:pPr indent="0" marL="0">
              <a:lnSpc>
                <a:spcPct val="115000"/>
              </a:lnSpc>
              <a:buNone/>
            </a:pPr>
            <a:r>
              <a:rPr lang="en-US" sz="1400" b="1" dirty="0">
                <a:solidFill>
                  <a:srgbClr val="ECE7DC"/>
                </a:solidFill>
                <a:latin typeface="Calibri" pitchFamily="34" charset="0"/>
                <a:ea typeface="Calibri" pitchFamily="34" charset="-122"/>
                <a:cs typeface="Calibri" pitchFamily="34" charset="-120"/>
              </a:rPr>
              <a:t>Band 5:  </a:t>
            </a:r>
            <a:pPr indent="0" marL="0">
              <a:lnSpc>
                <a:spcPct val="115000"/>
              </a:lnSpc>
              <a:buNone/>
            </a:pPr>
            <a:r>
              <a:rPr lang="en-US" sz="1400" dirty="0">
                <a:solidFill>
                  <a:srgbClr val="9AA0AC"/>
                </a:solidFill>
                <a:latin typeface="Calibri" pitchFamily="34" charset="0"/>
                <a:ea typeface="Calibri" pitchFamily="34" charset="-122"/>
                <a:cs typeface="Calibri" pitchFamily="34" charset="-120"/>
              </a:rPr>
              <a:t>Bandning 5-qismi juda uzun matn bilan yozilgan, chunki AI ba'zan sxema chegarasiga yaqin uzunlikda to'liq gaplar yozadi va bu qatorning haqiqiy balandligini sezilarli darajada oshiradi, natijada sahifada joy yetishmasligi yuzaga kelishi mumkin, shu sababli bu holatni sinash zarur bo'ladi va kuzatiladi.</a:t>
            </a:r>
            <a:endParaRPr lang="en-US" sz="1400" dirty="0"/>
          </a:p>
        </p:txBody>
      </p:sp>
      <p:sp>
        <p:nvSpPr>
          <p:cNvPr id="15" name="Text 13"/>
          <p:cNvSpPr/>
          <p:nvPr/>
        </p:nvSpPr>
        <p:spPr>
          <a:xfrm>
            <a:off x="11094415" y="6355080"/>
            <a:ext cx="731520" cy="274320"/>
          </a:xfrm>
          <a:prstGeom prst="rect">
            <a:avLst/>
          </a:prstGeom>
          <a:noFill/>
          <a:ln/>
        </p:spPr>
        <p:txBody>
          <a:bodyPr wrap="square" rtlCol="0" anchor="ctr"/>
          <a:lstStyle/>
          <a:p>
            <a:pPr algn="r" indent="0" marL="0">
              <a:buNone/>
            </a:pPr>
            <a:r>
              <a:rPr lang="en-US" sz="1000" dirty="0">
                <a:solidFill>
                  <a:srgbClr val="9AA0AC"/>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640080" y="502920"/>
            <a:ext cx="10911535" cy="320040"/>
          </a:xfrm>
          <a:prstGeom prst="rect">
            <a:avLst/>
          </a:prstGeom>
          <a:noFill/>
          <a:ln/>
        </p:spPr>
        <p:txBody>
          <a:bodyPr wrap="square" rtlCol="0" anchor="t"/>
          <a:lstStyle/>
          <a:p>
            <a:pPr indent="0" marL="0">
              <a:buNone/>
            </a:pPr>
            <a:r>
              <a:rPr lang="en-US" sz="1200" b="1" spc="300" kern="0" dirty="0">
                <a:solidFill>
                  <a:srgbClr val="C9A24B"/>
                </a:solidFill>
                <a:latin typeface="Calibri" pitchFamily="34" charset="0"/>
                <a:ea typeface="Calibri" pitchFamily="34" charset="-122"/>
                <a:cs typeface="Calibri" pitchFamily="34" charset="-120"/>
              </a:rPr>
              <a:t>DEF TEST</a:t>
            </a:r>
            <a:endParaRPr lang="en-US" sz="1200" dirty="0"/>
          </a:p>
        </p:txBody>
      </p:sp>
      <p:sp>
        <p:nvSpPr>
          <p:cNvPr id="3" name="Text 1"/>
          <p:cNvSpPr/>
          <p:nvPr/>
        </p:nvSpPr>
        <p:spPr>
          <a:xfrm>
            <a:off x="621792" y="868680"/>
            <a:ext cx="10911535" cy="822960"/>
          </a:xfrm>
          <a:prstGeom prst="rect">
            <a:avLst/>
          </a:prstGeom>
          <a:noFill/>
          <a:ln/>
        </p:spPr>
        <p:txBody>
          <a:bodyPr wrap="square" rtlCol="0" anchor="t"/>
          <a:lstStyle/>
          <a:p>
            <a:pPr indent="0" marL="0">
              <a:buNone/>
            </a:pPr>
            <a:r>
              <a:rPr lang="en-US" sz="3600" b="1" dirty="0">
                <a:solidFill>
                  <a:srgbClr val="ECE7DC"/>
                </a:solidFill>
                <a:latin typeface="Georgia" pitchFamily="34" charset="0"/>
                <a:ea typeface="Georgia" pitchFamily="34" charset="-122"/>
                <a:cs typeface="Georgia" pitchFamily="34" charset="-120"/>
              </a:rPr>
              <a:t>Atama</a:t>
            </a:r>
            <a:endParaRPr lang="en-US" sz="3600" dirty="0"/>
          </a:p>
        </p:txBody>
      </p:sp>
      <p:sp>
        <p:nvSpPr>
          <p:cNvPr id="4" name="Text 2"/>
          <p:cNvSpPr/>
          <p:nvPr/>
        </p:nvSpPr>
        <p:spPr>
          <a:xfrm>
            <a:off x="640080" y="1828800"/>
            <a:ext cx="10038612" cy="1371600"/>
          </a:xfrm>
          <a:prstGeom prst="rect">
            <a:avLst/>
          </a:prstGeom>
          <a:noFill/>
          <a:ln/>
        </p:spPr>
        <p:txBody>
          <a:bodyPr wrap="square" rtlCol="0" anchor="t"/>
          <a:lstStyle/>
          <a:p>
            <a:pPr indent="0" marL="0">
              <a:lnSpc>
                <a:spcPct val="115000"/>
              </a:lnSpc>
              <a:buNone/>
            </a:pPr>
            <a:r>
              <a:rPr lang="en-US" sz="1200" dirty="0">
                <a:solidFill>
                  <a:srgbClr val="9AA0AC"/>
                </a:solidFill>
                <a:latin typeface="Calibri" pitchFamily="34" charset="0"/>
                <a:ea typeface="Calibri" pitchFamily="34" charset="-122"/>
                <a:cs typeface="Calibri" pitchFamily="34" charset="-120"/>
              </a:rPr>
              <a:t>Bandning def-qismi juda uzun matn bilan yozilgan, chunki AI ba'zan sxema chegarasiga yaqin uzunlikda to'liq gaplar yozadi va bu qatorning haqiqiy balandligini sezilarli darajada oshiradi, natijada sahifada joy yetishmasligi yuzaga kelishi mumkin, shu sababli bu holatni sinash zarur bo'ladi va kuzatiladi.Bandning def-qismi juda uzun matn bilan yozilgan, chunki AI ba'zan sxema chegarasiga yaqin uzunlikda to'liq gaplar yozadi va bu qatorning haqiqiy balandligini sezilarli darajada oshiradi, natijada sahifada joy yetishmasligi yuzaga kelishi mumkin, shu sababli bu holatni sinash zarur bo'ladi va kuzatiladi.Bandning def-qismi juda uzun matn bilan yozilgan, chunki AI ba'zan sxema chegarasiga yaqin uzunlikda to'liq gaplar yozadi va bu qatorning haqiqiy balandligini sezilarli darajada oshiradi, natijada sahifada joy yetishmasligi yuzaga kelishi mumkin, shu sababli bu holatni sinash zarur bo'ladi va kuzatiladi.</a:t>
            </a:r>
            <a:endParaRPr lang="en-US" sz="1200" dirty="0"/>
          </a:p>
        </p:txBody>
      </p:sp>
      <p:sp>
        <p:nvSpPr>
          <p:cNvPr id="5" name="Shape 3"/>
          <p:cNvSpPr/>
          <p:nvPr/>
        </p:nvSpPr>
        <p:spPr>
          <a:xfrm>
            <a:off x="640080" y="3657600"/>
            <a:ext cx="3393338" cy="2743200"/>
          </a:xfrm>
          <a:prstGeom prst="roundRect">
            <a:avLst>
              <a:gd name="adj" fmla="val 4000"/>
            </a:avLst>
          </a:prstGeom>
          <a:solidFill>
            <a:srgbClr val="222732"/>
          </a:solidFill>
          <a:ln w="12700">
            <a:solidFill>
              <a:srgbClr val="333844"/>
            </a:solidFill>
            <a:prstDash val="solid"/>
          </a:ln>
        </p:spPr>
      </p:sp>
      <p:sp>
        <p:nvSpPr>
          <p:cNvPr id="6" name="Text 4"/>
          <p:cNvSpPr/>
          <p:nvPr/>
        </p:nvSpPr>
        <p:spPr>
          <a:xfrm>
            <a:off x="914400" y="3931920"/>
            <a:ext cx="2844698" cy="365760"/>
          </a:xfrm>
          <a:prstGeom prst="rect">
            <a:avLst/>
          </a:prstGeom>
          <a:noFill/>
          <a:ln/>
        </p:spPr>
        <p:txBody>
          <a:bodyPr wrap="square" rtlCol="0" anchor="t"/>
          <a:lstStyle/>
          <a:p>
            <a:pPr indent="0" marL="0">
              <a:buNone/>
            </a:pPr>
            <a:r>
              <a:rPr lang="en-US" sz="1200" b="1" spc="100" kern="0" dirty="0">
                <a:solidFill>
                  <a:srgbClr val="C9A24B"/>
                </a:solidFill>
                <a:latin typeface="Calibri" pitchFamily="34" charset="0"/>
                <a:ea typeface="Calibri" pitchFamily="34" charset="-122"/>
                <a:cs typeface="Calibri" pitchFamily="34" charset="-120"/>
              </a:rPr>
              <a:t>JIHAT 1</a:t>
            </a:r>
            <a:endParaRPr lang="en-US" sz="1200" dirty="0"/>
          </a:p>
        </p:txBody>
      </p:sp>
      <p:sp>
        <p:nvSpPr>
          <p:cNvPr id="7" name="Text 5"/>
          <p:cNvSpPr/>
          <p:nvPr/>
        </p:nvSpPr>
        <p:spPr>
          <a:xfrm>
            <a:off x="914400" y="4434840"/>
            <a:ext cx="2844698" cy="1737360"/>
          </a:xfrm>
          <a:prstGeom prst="rect">
            <a:avLst/>
          </a:prstGeom>
          <a:noFill/>
          <a:ln/>
        </p:spPr>
        <p:txBody>
          <a:bodyPr wrap="square" rtlCol="0" anchor="t"/>
          <a:lstStyle/>
          <a:p>
            <a:pPr indent="0" marL="0">
              <a:buNone/>
            </a:pPr>
            <a:r>
              <a:rPr lang="en-US" sz="1000" dirty="0">
                <a:solidFill>
                  <a:srgbClr val="9AA0AC"/>
                </a:solidFill>
                <a:latin typeface="Calibri" pitchFamily="34" charset="0"/>
                <a:ea typeface="Calibri" pitchFamily="34" charset="-122"/>
                <a:cs typeface="Calibri" pitchFamily="34" charset="-120"/>
              </a:rPr>
              <a:t>Bandning a1-qismi juda uzun matn bilan yozilgan, chunki AI ba'zan sxema chegarasiga yaqin uzunlikda to'liq gaplar yozadi va bu qatorning haqiqiy balandligini sezilarli darajada oshiradi, natijada sahifada joy yetishmasligi yuzaga kelishi mumkin, shu sababli bu holatni sinash zarur bo'ladi va kuzatiladi.Bandning a1-qismi juda uzun matn bilan yozilgan, chunki AI ba'zan sxema chegarasiga yaqin uzunlikda to'liq gaplar yozadi va bu qatorning haqiqiy balandligini sezilarli darajada oshiradi, natijada sahif…</a:t>
            </a:r>
            <a:endParaRPr lang="en-US" sz="1000" dirty="0"/>
          </a:p>
        </p:txBody>
      </p:sp>
      <p:sp>
        <p:nvSpPr>
          <p:cNvPr id="8" name="Shape 6"/>
          <p:cNvSpPr/>
          <p:nvPr/>
        </p:nvSpPr>
        <p:spPr>
          <a:xfrm>
            <a:off x="4399178" y="3657600"/>
            <a:ext cx="3393338" cy="2743200"/>
          </a:xfrm>
          <a:prstGeom prst="roundRect">
            <a:avLst>
              <a:gd name="adj" fmla="val 4000"/>
            </a:avLst>
          </a:prstGeom>
          <a:solidFill>
            <a:srgbClr val="222732"/>
          </a:solidFill>
          <a:ln w="12700">
            <a:solidFill>
              <a:srgbClr val="333844"/>
            </a:solidFill>
            <a:prstDash val="solid"/>
          </a:ln>
        </p:spPr>
      </p:sp>
      <p:sp>
        <p:nvSpPr>
          <p:cNvPr id="9" name="Text 7"/>
          <p:cNvSpPr/>
          <p:nvPr/>
        </p:nvSpPr>
        <p:spPr>
          <a:xfrm>
            <a:off x="4673498" y="3931920"/>
            <a:ext cx="2844698" cy="365760"/>
          </a:xfrm>
          <a:prstGeom prst="rect">
            <a:avLst/>
          </a:prstGeom>
          <a:noFill/>
          <a:ln/>
        </p:spPr>
        <p:txBody>
          <a:bodyPr wrap="square" rtlCol="0" anchor="t"/>
          <a:lstStyle/>
          <a:p>
            <a:pPr indent="0" marL="0">
              <a:buNone/>
            </a:pPr>
            <a:r>
              <a:rPr lang="en-US" sz="1200" b="1" spc="100" kern="0" dirty="0">
                <a:solidFill>
                  <a:srgbClr val="C9A24B"/>
                </a:solidFill>
                <a:latin typeface="Calibri" pitchFamily="34" charset="0"/>
                <a:ea typeface="Calibri" pitchFamily="34" charset="-122"/>
                <a:cs typeface="Calibri" pitchFamily="34" charset="-120"/>
              </a:rPr>
              <a:t>JIHAT 2</a:t>
            </a:r>
            <a:endParaRPr lang="en-US" sz="1200" dirty="0"/>
          </a:p>
        </p:txBody>
      </p:sp>
      <p:sp>
        <p:nvSpPr>
          <p:cNvPr id="10" name="Text 8"/>
          <p:cNvSpPr/>
          <p:nvPr/>
        </p:nvSpPr>
        <p:spPr>
          <a:xfrm>
            <a:off x="4673498" y="4434840"/>
            <a:ext cx="2844698" cy="1737360"/>
          </a:xfrm>
          <a:prstGeom prst="rect">
            <a:avLst/>
          </a:prstGeom>
          <a:noFill/>
          <a:ln/>
        </p:spPr>
        <p:txBody>
          <a:bodyPr wrap="square" rtlCol="0" anchor="t"/>
          <a:lstStyle/>
          <a:p>
            <a:pPr indent="0" marL="0">
              <a:buNone/>
            </a:pPr>
            <a:r>
              <a:rPr lang="en-US" sz="1000" dirty="0">
                <a:solidFill>
                  <a:srgbClr val="9AA0AC"/>
                </a:solidFill>
                <a:latin typeface="Calibri" pitchFamily="34" charset="0"/>
                <a:ea typeface="Calibri" pitchFamily="34" charset="-122"/>
                <a:cs typeface="Calibri" pitchFamily="34" charset="-120"/>
              </a:rPr>
              <a:t>Bandning a2-qismi juda uzun matn bilan yozilgan, chunki AI ba'zan sxema chegarasiga yaqin uzunlikda to'liq gaplar yozadi va bu qatorning haqiqiy balandligini sezilarli darajada oshiradi, natijada sahifada joy yetishmasligi yuzaga kelishi mumkin, shu sababli bu holatni sinash zarur bo'ladi va kuzatiladi.Bandning a2-qismi juda uzun matn bilan yozilgan, chunki AI ba'zan sxema chegarasiga yaqin uzunlikda to'liq gaplar yozadi va bu qatorning haqiqiy balandligini sezilarli darajada oshiradi, natijada sahif…</a:t>
            </a:r>
            <a:endParaRPr lang="en-US" sz="1000" dirty="0"/>
          </a:p>
        </p:txBody>
      </p:sp>
      <p:sp>
        <p:nvSpPr>
          <p:cNvPr id="11" name="Shape 9"/>
          <p:cNvSpPr/>
          <p:nvPr/>
        </p:nvSpPr>
        <p:spPr>
          <a:xfrm>
            <a:off x="8158277" y="3657600"/>
            <a:ext cx="3393338" cy="2743200"/>
          </a:xfrm>
          <a:prstGeom prst="roundRect">
            <a:avLst>
              <a:gd name="adj" fmla="val 4000"/>
            </a:avLst>
          </a:prstGeom>
          <a:solidFill>
            <a:srgbClr val="222732"/>
          </a:solidFill>
          <a:ln w="12700">
            <a:solidFill>
              <a:srgbClr val="333844"/>
            </a:solidFill>
            <a:prstDash val="solid"/>
          </a:ln>
        </p:spPr>
      </p:sp>
      <p:sp>
        <p:nvSpPr>
          <p:cNvPr id="12" name="Text 10"/>
          <p:cNvSpPr/>
          <p:nvPr/>
        </p:nvSpPr>
        <p:spPr>
          <a:xfrm>
            <a:off x="8432597" y="3931920"/>
            <a:ext cx="2844698" cy="365760"/>
          </a:xfrm>
          <a:prstGeom prst="rect">
            <a:avLst/>
          </a:prstGeom>
          <a:noFill/>
          <a:ln/>
        </p:spPr>
        <p:txBody>
          <a:bodyPr wrap="square" rtlCol="0" anchor="t"/>
          <a:lstStyle/>
          <a:p>
            <a:pPr indent="0" marL="0">
              <a:buNone/>
            </a:pPr>
            <a:r>
              <a:rPr lang="en-US" sz="1200" b="1" spc="100" kern="0" dirty="0">
                <a:solidFill>
                  <a:srgbClr val="C9A24B"/>
                </a:solidFill>
                <a:latin typeface="Calibri" pitchFamily="34" charset="0"/>
                <a:ea typeface="Calibri" pitchFamily="34" charset="-122"/>
                <a:cs typeface="Calibri" pitchFamily="34" charset="-120"/>
              </a:rPr>
              <a:t>JIHAT 3</a:t>
            </a:r>
            <a:endParaRPr lang="en-US" sz="1200" dirty="0"/>
          </a:p>
        </p:txBody>
      </p:sp>
      <p:sp>
        <p:nvSpPr>
          <p:cNvPr id="13" name="Text 11"/>
          <p:cNvSpPr/>
          <p:nvPr/>
        </p:nvSpPr>
        <p:spPr>
          <a:xfrm>
            <a:off x="8432597" y="4434840"/>
            <a:ext cx="2844698" cy="1737360"/>
          </a:xfrm>
          <a:prstGeom prst="rect">
            <a:avLst/>
          </a:prstGeom>
          <a:noFill/>
          <a:ln/>
        </p:spPr>
        <p:txBody>
          <a:bodyPr wrap="square" rtlCol="0" anchor="t"/>
          <a:lstStyle/>
          <a:p>
            <a:pPr indent="0" marL="0">
              <a:buNone/>
            </a:pPr>
            <a:r>
              <a:rPr lang="en-US" sz="1000" dirty="0">
                <a:solidFill>
                  <a:srgbClr val="9AA0AC"/>
                </a:solidFill>
                <a:latin typeface="Calibri" pitchFamily="34" charset="0"/>
                <a:ea typeface="Calibri" pitchFamily="34" charset="-122"/>
                <a:cs typeface="Calibri" pitchFamily="34" charset="-120"/>
              </a:rPr>
              <a:t>Bandning a3-qismi juda uzun matn bilan yozilgan, chunki AI ba'zan sxema chegarasiga yaqin uzunlikda to'liq gaplar yozadi va bu qatorning haqiqiy balandligini sezilarli darajada oshiradi, natijada sahifada joy yetishmasligi yuzaga kelishi mumkin, shu sababli bu holatni sinash zarur bo'ladi va kuzatiladi.Bandning a3-qismi juda uzun matn bilan yozilgan, chunki AI ba'zan sxema chegarasiga yaqin uzunlikda to'liq gaplar yozadi va bu qatorning haqiqiy balandligini sezilarli darajada oshiradi, natijada sahif…</a:t>
            </a:r>
            <a:endParaRPr lang="en-US" sz="1000" dirty="0"/>
          </a:p>
        </p:txBody>
      </p:sp>
      <p:sp>
        <p:nvSpPr>
          <p:cNvPr id="14" name="Text 12"/>
          <p:cNvSpPr/>
          <p:nvPr/>
        </p:nvSpPr>
        <p:spPr>
          <a:xfrm>
            <a:off x="11094415" y="6355080"/>
            <a:ext cx="731520" cy="274320"/>
          </a:xfrm>
          <a:prstGeom prst="rect">
            <a:avLst/>
          </a:prstGeom>
          <a:noFill/>
          <a:ln/>
        </p:spPr>
        <p:txBody>
          <a:bodyPr wrap="square" rtlCol="0" anchor="ctr"/>
          <a:lstStyle/>
          <a:p>
            <a:pPr algn="r" indent="0" marL="0">
              <a:buNone/>
            </a:pPr>
            <a:r>
              <a:rPr lang="en-US" sz="1000" dirty="0">
                <a:solidFill>
                  <a:srgbClr val="9AA0AC"/>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Lumio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Lumio</dc:creator>
  <cp:lastModifiedBy>Lumio</cp:lastModifiedBy>
  <cp:revision>1</cp:revision>
  <dcterms:created xsi:type="dcterms:W3CDTF">2026-07-06T12:59:40Z</dcterms:created>
  <dcterms:modified xsi:type="dcterms:W3CDTF">2026-07-06T12:59:40Z</dcterms:modified>
</cp:coreProperties>
</file>